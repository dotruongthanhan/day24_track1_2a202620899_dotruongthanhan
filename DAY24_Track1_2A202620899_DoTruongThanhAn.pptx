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</ns0:sldIdLst>
  <ns0:sldSz cx="12192000" cy="6858000" type="screen4x3"/>
  <ns0:notesSz cx="6858000" cy="9144000"/>
  <ns0:embeddedFontLst>
    <ns0:embeddedFont>
      <ns0:font typeface="Inter"/>
      <ns0:bold ns1:id="rIdFont10"/>
      <ns0:regular ns1:id="rIdFont1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Font10" Type="http://schemas.openxmlformats.org/officeDocument/2006/relationships/font" Target="fonts/32d4eec3-6b2d-4e0b-aac0-8a4a611be18d.fntdata" /><ns0:Relationship Id="rIdFont11" Type="http://schemas.openxmlformats.org/officeDocument/2006/relationships/font" Target="fonts/d4262ff7-7b85-41ca-8123-faf0198bf8b7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620250" y="381000"/>
            <a:ext cx="1962150" cy="333375"/>
          </a:xfrm>
          <a:prstGeom prst="roundRect">
            <a:avLst>
              <a:gd name="adj" fmla="val 17142"/>
            </a:avLst>
          </a:prstGeom>
          <a:solidFill>
            <a:srgbClr val="FEF2F2"/>
          </a:solidFill>
          <a:ln w="9525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1741289"/>
            <a:ext cx="8572500" cy="242292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741289"/>
            <a:ext cx="76200" cy="2422921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9525" y="6391275"/>
            <a:ext cx="4286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81000"/>
            <a:ext cx="3888134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SLIDE 1 /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71500"/>
            <a:ext cx="4082541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Kết luận &amp; Quyết định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2175" y="466725"/>
            <a:ext cx="2047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Inter"/>
              </a:rPr>
              <a:t>Sheet 2; Sheet 7 (câu 1-2)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1741289"/>
            <a:ext cx="8210550" cy="2194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Inter"/>
              </a:rPr>
              <a:t>"Nhóm đề xuất </a:t>
            </a:r>
            <a:r>
              <a:rPr b="1" sz="3600" i="0" u="none">
                <a:solidFill>
                  <a:srgbClr val="DC2626"/>
                </a:solidFill>
                <a:latin typeface="Inter"/>
              </a:rPr>
              <a:t>DỪNG</a:t>
            </a:r>
            <a:r>
              <a:rPr b="1" sz="3600" i="0" u="none">
                <a:solidFill>
                  <a:srgbClr val="0F172A"/>
                </a:solidFill>
                <a:latin typeface="Inter"/>
              </a:rPr>
              <a:t> dự án, với mô hình giá </a:t>
            </a:r>
            <a:r>
              <a:rPr b="1" sz="3600" i="0" u="none">
                <a:solidFill>
                  <a:srgbClr val="DC2626"/>
                </a:solidFill>
                <a:latin typeface="Inter"/>
              </a:rPr>
              <a:t>99.000đ/tháng</a:t>
            </a:r>
            <a:r>
              <a:rPr b="1" sz="3600" i="0" u="none">
                <a:solidFill>
                  <a:srgbClr val="0F172A"/>
                </a:solidFill>
                <a:latin typeface="Inter"/>
              </a:rPr>
              <a:t>, vì chỉ số LTV/CAC quá thấp dẫn đến đốt tiền khi mở rộng."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4773810"/>
            <a:ext cx="270941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QUYẾT ĐỊNH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5011935"/>
            <a:ext cx="270941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C2626"/>
                </a:solidFill>
                <a:latin typeface="Inter"/>
              </a:rPr>
              <a:t>DỪNG TOÀN BỘ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5332" y="4773810"/>
            <a:ext cx="40639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MÔ HÌNH GIÁ (SHEET 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5332" y="5011935"/>
            <a:ext cx="406393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99.000 VNĐ/tháng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5332" y="5326260"/>
            <a:ext cx="4063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Cố định 300 việc + 300đ vượt mức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47483" y="4773810"/>
            <a:ext cx="494451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BẰNG CHỨNG CHÍNH (SHEET 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47483" y="5011935"/>
            <a:ext cx="494451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Chi phí bù đắp thất bại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7483" y="5326260"/>
            <a:ext cx="494451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Giá vốn rẻ nhưng chi phí có khách (CAC) quá đắt.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82025" y="381000"/>
            <a:ext cx="3000375" cy="333375"/>
          </a:xfrm>
          <a:prstGeom prst="roundRect">
            <a:avLst>
              <a:gd name="adj" fmla="val 17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5691187"/>
            <a:ext cx="10972800" cy="885825"/>
          </a:xfrm>
          <a:prstGeom prst="roundRect">
            <a:avLst>
              <a:gd name="adj" fmla="val 1290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1214437"/>
            <a:ext cx="5372100" cy="1933575"/>
          </a:xfrm>
          <a:prstGeom prst="roundRect">
            <a:avLst>
              <a:gd name="adj" fmla="val 59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1214437"/>
            <a:ext cx="5372100" cy="1933575"/>
          </a:xfrm>
          <a:prstGeom prst="roundRect">
            <a:avLst>
              <a:gd name="adj" fmla="val 59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376612"/>
            <a:ext cx="10972800" cy="2085975"/>
          </a:xfrm>
          <a:prstGeom prst="roundRect">
            <a:avLst>
              <a:gd name="adj" fmla="val 5479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981700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1528762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1528762"/>
            <a:ext cx="25717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3690937"/>
            <a:ext cx="28575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410950" y="6391275"/>
            <a:ext cx="457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81000"/>
            <a:ext cx="38005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SLIDE 2 /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71500"/>
            <a:ext cx="3990537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Bằng chứng tài chính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3950" y="466725"/>
            <a:ext cx="334565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Inter"/>
              </a:rPr>
              <a:t>Sheet 1 (d.24), Sheet 4, Sheet 5 (d.44-48)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1909762"/>
            <a:ext cx="622577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Chi phí mỗi việc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2185987"/>
            <a:ext cx="5929312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3000" i="0" u="none">
                <a:solidFill>
                  <a:srgbClr val="0F172A"/>
                </a:solidFill>
                <a:latin typeface="Inter"/>
              </a:rPr>
              <a:t>Rất thấp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2643187"/>
            <a:ext cx="59293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Chỉ vài chục đồng/việc (Sheet 1).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4625" y="1909762"/>
            <a:ext cx="5667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Biên lợi nhuận gộp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4625" y="2185987"/>
            <a:ext cx="5667375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3000" i="0" u="none">
                <a:solidFill>
                  <a:srgbClr val="0F172A"/>
                </a:solidFill>
                <a:latin typeface="Inter"/>
              </a:rPr>
              <a:t>&gt; 90%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4625" y="2643187"/>
            <a:ext cx="56673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Sản phẩm sinh lời tốt trên từng đơn vị.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925" y="4957762"/>
            <a:ext cx="112680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7F1D1D"/>
                </a:solidFill>
                <a:latin typeface="Inter"/>
              </a:rPr>
              <a:t>Chi phí quảng cáo (700k) lớn hơn tổng doanh thu vòng đời khách (do Churn 15%).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7800" y="5919787"/>
            <a:ext cx="672584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Inter"/>
              </a:rPr>
              <a:t>KẾT QUẢ KỊCH BẢN XẤU (SHEET 5, D.44-48)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7800" y="6119812"/>
            <a:ext cx="64055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Inter"/>
              </a:rPr>
              <a:t>Dòng tiền âm liên tục. Cạn 1,5 tỷ vốn ban đầu cực nhanh.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925" y="4071937"/>
            <a:ext cx="144018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91B1B"/>
                </a:solidFill>
                <a:latin typeface="Inter"/>
              </a:rPr>
              <a:t>LTV / CAC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925" y="4348162"/>
            <a:ext cx="13716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600" i="0" u="none">
                <a:solidFill>
                  <a:srgbClr val="DC2626"/>
                </a:solidFill>
                <a:latin typeface="Inter"/>
              </a:rPr>
              <a:t>&lt; 1.0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0314" y="3690937"/>
            <a:ext cx="208776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350" i="0" u="none">
                <a:solidFill>
                  <a:srgbClr val="991B1B"/>
                </a:solidFill>
                <a:latin typeface="Inter"/>
              </a:rPr>
              <a:t>Thời gian hoàn vốn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79731" y="3967162"/>
            <a:ext cx="1988343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79"/>
              </a:lnSpc>
            </a:pPr>
            <a:r>
              <a:rPr b="1" sz="2400" i="0" u="none">
                <a:solidFill>
                  <a:srgbClr val="DC2626"/>
                </a:solidFill>
                <a:latin typeface="Inter"/>
              </a:rPr>
              <a:t>Không thể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705850" y="381000"/>
            <a:ext cx="2876550" cy="333375"/>
          </a:xfrm>
          <a:prstGeom prst="roundRect">
            <a:avLst>
              <a:gd name="adj" fmla="val 17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768203"/>
            <a:ext cx="3432125" cy="225489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32200" y="2768203"/>
            <a:ext cx="9525" cy="225489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98925" y="3835003"/>
            <a:ext cx="3194000" cy="1181100"/>
          </a:xfrm>
          <a:prstGeom prst="roundRect">
            <a:avLst>
              <a:gd name="adj" fmla="val 645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88250" y="3225403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88250" y="3804344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88250" y="4596556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10950" y="6391275"/>
            <a:ext cx="457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81000"/>
            <a:ext cx="488695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SLIDE 3 /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571500"/>
            <a:ext cx="5131305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Phân tích rủi ro &amp; Luật xử lý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7775" y="466725"/>
            <a:ext cx="3190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Inter"/>
              </a:rPr>
              <a:t>Sheet 5 (d.66, 72-77), Sheet 7 (câu 3-5)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768203"/>
            <a:ext cx="41921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Biến nguy hiểm nhất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925" y="2768203"/>
            <a:ext cx="41921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Điều kiện mở rộng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925" y="3225403"/>
            <a:ext cx="3289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KHÔNG mở rộng trong điều kiện hiện tại. Bán càng nhiều, lỗ càng sâu.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8250" y="2768203"/>
            <a:ext cx="380374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Luật xử lý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3225403"/>
            <a:ext cx="39925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2400" i="0" u="none">
                <a:solidFill>
                  <a:srgbClr val="DC2626"/>
                </a:solidFill>
                <a:latin typeface="Inter"/>
              </a:rPr>
              <a:t>15%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3606403"/>
            <a:ext cx="3992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Tỷ lệ rời bỏ (Churn)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3835003"/>
            <a:ext cx="3992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Khách bỏ đi nhanh hơn tốc độ thu hồi vốn.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4225528"/>
            <a:ext cx="39925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2400" i="0" u="none">
                <a:solidFill>
                  <a:srgbClr val="DC2626"/>
                </a:solidFill>
                <a:latin typeface="Inter"/>
              </a:rPr>
              <a:t>700k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4606528"/>
            <a:ext cx="3992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Chi phí 1 khách (CAC)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4835128"/>
            <a:ext cx="3992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Quá cao so với doanh thu 99k/tháng.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0850" y="3996928"/>
            <a:ext cx="3587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6534"/>
                </a:solidFill>
                <a:latin typeface="Inter"/>
              </a:rPr>
              <a:t>CHỈ MỞ LẠI NẾU ĐẠT 1 TRONG 2: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5150" y="4216003"/>
            <a:ext cx="762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5803D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51350" y="4235053"/>
            <a:ext cx="2774900" cy="36195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5803D"/>
                </a:solidFill>
                <a:latin typeface="Inter"/>
              </a:rPr>
              <a:t>Giảm CAC xuống &lt; 350k (Bán kèm qua sàn)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5150" y="4654153"/>
            <a:ext cx="762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5803D"/>
                </a:solidFill>
                <a:latin typeface="Inter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51350" y="4673203"/>
            <a:ext cx="3349562" cy="18097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5803D"/>
                </a:solidFill>
                <a:latin typeface="Inter"/>
              </a:rPr>
              <a:t>Giảm Churn xuống &lt; 8% (Bán gói năm)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5375" y="3225403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45450" y="3225403"/>
            <a:ext cx="28320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Đóng băng ngay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ngân sách quảng cáo mạng xã hội hiện tại.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5375" y="3804344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45450" y="3804344"/>
            <a:ext cx="283205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Kiểm chứng kênh mới: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Chạy thử nghiệm nhỏ nghiệm thu mô hình B2B2C (qua đối tác sàn).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5375" y="4596556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45450" y="4596556"/>
            <a:ext cx="28320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Pivot sản phẩm: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Đổi chiến lược sang chốt gói theo năm để ép tỷ lệ rời bỏ.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